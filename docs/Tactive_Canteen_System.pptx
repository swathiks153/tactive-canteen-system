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296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_utensi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TACTIVE CANTEEN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Web Application Development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Flask  •  SQLite  •  HTML/CSS  •  Pytest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Swathi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canteen ordering can be time-consuming and error-prone.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259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process is slow and manual, with no digital visibility into wait times.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35040" y="17830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636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_shoppingBask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1259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89280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to know available food items and current stock before ordering.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_ba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38176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58444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quantities should not be accepted by the system.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icon_exclamationTriang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8176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358444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exceeding available stock must be rejected automatically.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1663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5394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icon_sync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55092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276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stock should update automatically the moment an order succeeds.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035040" y="51663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  <a:effectLst>
            <a:outerShdw blurRad="76200" dist="25400" dir="5400000" algn="bl" rotWithShape="0">
              <a:srgbClr val="1B2B2E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263640" y="5394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icon_histor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940" y="550926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5276088"/>
            <a:ext cx="402336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orders should remain available for reference and reporting.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sets out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7393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1848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simple web-based canteen ordering system.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23697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08152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food items, prices, and stock levels.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6177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70001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54456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place food orders.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9768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3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77393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00600" y="161848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order quantities.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297680" y="31546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4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323697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00600" y="308152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orders when stock is insufficient.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297680" y="46177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5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4700016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00600" y="454456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update stock after successful orders.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795528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6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773936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458200" y="161848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order details in SQLite.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7955280" y="31546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7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3236976"/>
            <a:ext cx="219456" cy="2194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458200" y="308152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order history for reference.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7955280" y="46177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8" descr="icon_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4700016"/>
            <a:ext cx="219456" cy="21945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458200" y="4544568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application behavior using automated tests.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157984" cy="2286000"/>
          </a:xfrm>
          <a:prstGeom prst="roundRect">
            <a:avLst>
              <a:gd name="adj" fmla="val 4237"/>
            </a:avLst>
          </a:prstGeom>
          <a:solidFill>
            <a:srgbClr val="F1F7F7"/>
          </a:solidFill>
          <a:ln/>
          <a:effectLst>
            <a:outerShdw blurRad="63500" dist="25400" dir="5400000" algn="bl" rotWithShape="0">
              <a:srgbClr val="1B2B2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53312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_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20391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12724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26664" y="1554480"/>
            <a:ext cx="2157984" cy="2286000"/>
          </a:xfrm>
          <a:prstGeom prst="roundRect">
            <a:avLst>
              <a:gd name="adj" fmla="val 4237"/>
            </a:avLst>
          </a:prstGeom>
          <a:solidFill>
            <a:srgbClr val="F1F7F7"/>
          </a:solidFill>
          <a:ln/>
          <a:effectLst>
            <a:outerShdw blurRad="63500" dist="25400" dir="5400000" algn="bl" rotWithShape="0">
              <a:srgbClr val="1B2B2E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39896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_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20391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18104" y="274320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118104" y="312724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framework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13248" y="1554480"/>
            <a:ext cx="2157984" cy="2286000"/>
          </a:xfrm>
          <a:prstGeom prst="roundRect">
            <a:avLst>
              <a:gd name="adj" fmla="val 4237"/>
            </a:avLst>
          </a:prstGeom>
          <a:solidFill>
            <a:srgbClr val="F1F7F7"/>
          </a:solidFill>
          <a:ln/>
          <a:effectLst>
            <a:outerShdw blurRad="63500" dist="25400" dir="5400000" algn="bl" rotWithShape="0">
              <a:srgbClr val="1B2B2E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icon_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0391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04688" y="274320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504688" y="312724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data storage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799832" y="1554480"/>
            <a:ext cx="2157984" cy="2286000"/>
          </a:xfrm>
          <a:prstGeom prst="roundRect">
            <a:avLst>
              <a:gd name="adj" fmla="val 4237"/>
            </a:avLst>
          </a:prstGeom>
          <a:solidFill>
            <a:srgbClr val="F1F7F7"/>
          </a:solidFill>
          <a:ln/>
          <a:effectLst>
            <a:outerShdw blurRad="63500" dist="25400" dir="5400000" algn="bl" rotWithShape="0">
              <a:srgbClr val="1B2B2E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13064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icon_deskto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20391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91272" y="274320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891272" y="312724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1833372" y="4160520"/>
            <a:ext cx="2157984" cy="2286000"/>
          </a:xfrm>
          <a:prstGeom prst="roundRect">
            <a:avLst>
              <a:gd name="adj" fmla="val 4237"/>
            </a:avLst>
          </a:prstGeom>
          <a:solidFill>
            <a:srgbClr val="F1F7F7"/>
          </a:solidFill>
          <a:ln/>
          <a:effectLst>
            <a:outerShdw blurRad="63500" dist="25400" dir="5400000" algn="bl" rotWithShape="0">
              <a:srgbClr val="1B2B2E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546604" y="44805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icon_layerGrou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1196" y="464515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24812" y="53492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924812" y="573328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web pages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219956" y="4160520"/>
            <a:ext cx="2157984" cy="2286000"/>
          </a:xfrm>
          <a:prstGeom prst="roundRect">
            <a:avLst>
              <a:gd name="adj" fmla="val 4237"/>
            </a:avLst>
          </a:prstGeom>
          <a:solidFill>
            <a:srgbClr val="F1F7F7"/>
          </a:solidFill>
          <a:ln/>
          <a:effectLst>
            <a:outerShdw blurRad="63500" dist="25400" dir="5400000" algn="bl" rotWithShape="0">
              <a:srgbClr val="1B2B2E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933188" y="44805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5" descr="icon_flas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7780" y="464515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311396" y="53492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4311396" y="573328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606540" y="4160520"/>
            <a:ext cx="2157984" cy="2286000"/>
          </a:xfrm>
          <a:prstGeom prst="roundRect">
            <a:avLst>
              <a:gd name="adj" fmla="val 4237"/>
            </a:avLst>
          </a:prstGeom>
          <a:solidFill>
            <a:srgbClr val="F1F7F7"/>
          </a:solidFill>
          <a:ln/>
          <a:effectLst>
            <a:outerShdw blurRad="63500" dist="25400" dir="5400000" algn="bl" rotWithShape="0">
              <a:srgbClr val="1B2B2E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319772" y="44805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6" descr="icon_gitAl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4364" y="4645152"/>
            <a:ext cx="402336" cy="40233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697980" y="534924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6697980" y="573328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40" y="141732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pic>
        <p:nvPicPr>
          <p:cNvPr id="4" name="Image 0" descr="icon_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153619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7400" y="14173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06240" y="1984248"/>
            <a:ext cx="0" cy="13716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463040" y="219456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pic>
        <p:nvPicPr>
          <p:cNvPr id="8" name="Image 1" descr="icon_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31343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7400" y="21945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Interface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206240" y="2761488"/>
            <a:ext cx="0" cy="13716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1463040" y="297180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/>
        </p:spPr>
      </p:sp>
      <p:pic>
        <p:nvPicPr>
          <p:cNvPr id="12" name="Image 2" descr="icon_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09067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57400" y="29718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206240" y="3538728"/>
            <a:ext cx="0" cy="13716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1463040" y="37490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/>
        </p:spPr>
      </p:sp>
      <p:pic>
        <p:nvPicPr>
          <p:cNvPr id="16" name="Image 3" descr="icon_clipboard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86791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57400" y="37490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Validation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15968"/>
            <a:ext cx="0" cy="164592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2377440" y="4480560"/>
            <a:ext cx="0" cy="0"/>
          </a:xfrm>
          <a:prstGeom prst="line">
            <a:avLst/>
          </a:prstGeom>
          <a:noFill/>
          <a:ln w="12700">
            <a:solidFill>
              <a:srgbClr val="9FC9C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377440" y="4480560"/>
            <a:ext cx="3657600" cy="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291840" y="4480560"/>
            <a:ext cx="0" cy="13716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7223760" y="4480560"/>
            <a:ext cx="0" cy="13716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2240280" y="46177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24" name="Text 18"/>
          <p:cNvSpPr/>
          <p:nvPr/>
        </p:nvSpPr>
        <p:spPr>
          <a:xfrm>
            <a:off x="2240280" y="4617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/ Stock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172200" y="46177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6172200" y="4617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3291840" y="5120640"/>
            <a:ext cx="0" cy="18288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223760" y="5120640"/>
            <a:ext cx="0" cy="18288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91840" y="5303520"/>
            <a:ext cx="3931920" cy="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06240" y="5303520"/>
            <a:ext cx="0" cy="137160"/>
          </a:xfrm>
          <a:prstGeom prst="line">
            <a:avLst/>
          </a:prstGeom>
          <a:noFill/>
          <a:ln w="19050">
            <a:solidFill>
              <a:srgbClr val="9FC9CB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1463040" y="55778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1535C"/>
          </a:solidFill>
          <a:ln w="15875">
            <a:solidFill>
              <a:srgbClr val="02C39A"/>
            </a:solidFill>
            <a:prstDash val="solid"/>
          </a:ln>
        </p:spPr>
      </p:sp>
      <p:pic>
        <p:nvPicPr>
          <p:cNvPr id="32" name="Image 4" descr="icon_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5696712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057400" y="55778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646920" y="1417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9646920" y="1920240"/>
            <a:ext cx="329184" cy="329184"/>
          </a:xfrm>
          <a:prstGeom prst="ellipse">
            <a:avLst/>
          </a:prstGeom>
          <a:solidFill>
            <a:srgbClr val="12474D"/>
          </a:solidFill>
          <a:ln/>
        </p:spPr>
      </p:sp>
      <p:pic>
        <p:nvPicPr>
          <p:cNvPr id="36" name="Image 5" descr="icon_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1993392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58400" y="18105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HTML/CSS templates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9646920" y="2514600"/>
            <a:ext cx="329184" cy="329184"/>
          </a:xfrm>
          <a:prstGeom prst="ellipse">
            <a:avLst/>
          </a:prstGeom>
          <a:solidFill>
            <a:srgbClr val="12474D"/>
          </a:solidFill>
          <a:ln/>
        </p:spPr>
      </p:sp>
      <p:pic>
        <p:nvPicPr>
          <p:cNvPr id="39" name="Image 6" descr="icon_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587752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058400" y="24048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Flask application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9646920" y="3108960"/>
            <a:ext cx="329184" cy="329184"/>
          </a:xfrm>
          <a:prstGeom prst="ellipse">
            <a:avLst/>
          </a:prstGeom>
          <a:solidFill>
            <a:srgbClr val="12474D"/>
          </a:solidFill>
          <a:ln/>
        </p:spPr>
      </p:sp>
      <p:pic>
        <p:nvPicPr>
          <p:cNvPr id="42" name="Image 7" descr="icon_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3182112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0058400" y="29992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SQLite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9646920" y="3703320"/>
            <a:ext cx="329184" cy="329184"/>
          </a:xfrm>
          <a:prstGeom prst="ellipse">
            <a:avLst/>
          </a:prstGeom>
          <a:solidFill>
            <a:srgbClr val="12474D"/>
          </a:solidFill>
          <a:ln/>
        </p:spPr>
      </p:sp>
      <p:pic>
        <p:nvPicPr>
          <p:cNvPr id="45" name="Image 8" descr="icon_flas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2" y="3776472"/>
            <a:ext cx="182880" cy="18288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0058400" y="35935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Pytest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Processing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1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51790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_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934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application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14600" y="1984248"/>
            <a:ext cx="0" cy="256032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40080" y="22402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1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34086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_shoppingBask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43230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24028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food items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514600" y="2807208"/>
            <a:ext cx="0" cy="256032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40080" y="306324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1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808" y="316382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icon_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255264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06324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food + quantity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2514600" y="3630168"/>
            <a:ext cx="0" cy="256032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40080" y="388620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1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98678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icon_clipboard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078224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88620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quantity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2514600" y="4453128"/>
            <a:ext cx="0" cy="256032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40080" y="470916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1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9808" y="480974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4" descr="icon_box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901184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470916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stock availability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389120" y="4992624"/>
            <a:ext cx="1645920" cy="0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6035040" y="4489704"/>
            <a:ext cx="1371600" cy="1005840"/>
          </a:xfrm>
          <a:prstGeom prst="diamond">
            <a:avLst/>
          </a:prstGeom>
          <a:solidFill>
            <a:srgbClr val="00A896"/>
          </a:solidFill>
          <a:ln/>
        </p:spPr>
      </p:sp>
      <p:sp>
        <p:nvSpPr>
          <p:cNvPr id="29" name="Text 22"/>
          <p:cNvSpPr/>
          <p:nvPr/>
        </p:nvSpPr>
        <p:spPr>
          <a:xfrm>
            <a:off x="6035040" y="4489704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enough?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720840" y="5495544"/>
            <a:ext cx="0" cy="457200"/>
          </a:xfrm>
          <a:prstGeom prst="line">
            <a:avLst/>
          </a:prstGeom>
          <a:noFill/>
          <a:ln w="19050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31" name="Text 24"/>
          <p:cNvSpPr/>
          <p:nvPr/>
        </p:nvSpPr>
        <p:spPr>
          <a:xfrm>
            <a:off x="6766560" y="5541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217920" y="5952744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BEAEA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33" name="Image 5" descr="icon_timesCircl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6071616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595274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order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7223760" y="4992624"/>
            <a:ext cx="731520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955280" y="4649724"/>
            <a:ext cx="0" cy="34290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955280" y="4649724"/>
            <a:ext cx="777240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38" name="Text 30"/>
          <p:cNvSpPr/>
          <p:nvPr/>
        </p:nvSpPr>
        <p:spPr>
          <a:xfrm>
            <a:off x="7315200" y="46725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8732520" y="4398264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pic>
        <p:nvPicPr>
          <p:cNvPr id="40" name="Image 6" descr="icon_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2" y="4530852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171432" y="4398264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order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10515600" y="4398264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pic>
        <p:nvPicPr>
          <p:cNvPr id="43" name="Image 7" descr="icon_cod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4472" y="4530852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954512" y="4398264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10515600" y="5065776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pic>
        <p:nvPicPr>
          <p:cNvPr id="46" name="Image 8" descr="icon_sync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4472" y="5198364"/>
            <a:ext cx="237744" cy="23774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0954512" y="5065776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stock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8732520" y="5065776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pic>
        <p:nvPicPr>
          <p:cNvPr id="49" name="Image 9" descr="icon_databas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1392" y="5198364"/>
            <a:ext cx="237744" cy="237744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9171432" y="5065776"/>
            <a:ext cx="106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order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10332720" y="4649724"/>
            <a:ext cx="182880" cy="0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52" name="Shape 40"/>
          <p:cNvSpPr/>
          <p:nvPr/>
        </p:nvSpPr>
        <p:spPr>
          <a:xfrm>
            <a:off x="11315700" y="4901184"/>
            <a:ext cx="0" cy="164592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53" name="Shape 41"/>
          <p:cNvSpPr/>
          <p:nvPr/>
        </p:nvSpPr>
        <p:spPr>
          <a:xfrm>
            <a:off x="10332720" y="5317236"/>
            <a:ext cx="182880" cy="0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headEnd type="triangle"/>
          </a:ln>
        </p:spPr>
      </p:sp>
      <p:sp>
        <p:nvSpPr>
          <p:cNvPr id="54" name="Shape 42"/>
          <p:cNvSpPr/>
          <p:nvPr/>
        </p:nvSpPr>
        <p:spPr>
          <a:xfrm>
            <a:off x="9532620" y="5568696"/>
            <a:ext cx="0" cy="118872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9532620" y="5687568"/>
            <a:ext cx="891540" cy="0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10424160" y="5687568"/>
            <a:ext cx="0" cy="137160"/>
          </a:xfrm>
          <a:prstGeom prst="line">
            <a:avLst/>
          </a:prstGeom>
          <a:noFill/>
          <a:ln w="15875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8732520" y="5824728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8" name="Text 46"/>
          <p:cNvSpPr/>
          <p:nvPr/>
        </p:nvSpPr>
        <p:spPr>
          <a:xfrm>
            <a:off x="8732520" y="58247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Features</a:t>
            </a:r>
            <a:endParaRPr lang="en-US" sz="1500" dirty="0"/>
          </a:p>
        </p:txBody>
      </p:sp>
      <p:pic>
        <p:nvPicPr>
          <p:cNvPr id="4" name="Image 0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listing</a:t>
            </a:r>
            <a:endParaRPr lang="en-US" sz="1250" dirty="0"/>
          </a:p>
        </p:txBody>
      </p:sp>
      <p:pic>
        <p:nvPicPr>
          <p:cNvPr id="6" name="Image 1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price &amp; stock display</a:t>
            </a:r>
            <a:endParaRPr lang="en-US" sz="1250" dirty="0"/>
          </a:p>
        </p:txBody>
      </p:sp>
      <p:pic>
        <p:nvPicPr>
          <p:cNvPr id="8" name="Image 2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95728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322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250" dirty="0"/>
          </a:p>
        </p:txBody>
      </p:sp>
      <p:pic>
        <p:nvPicPr>
          <p:cNvPr id="10" name="Image 3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9776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706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validation</a:t>
            </a:r>
            <a:endParaRPr lang="en-US" sz="1250" dirty="0"/>
          </a:p>
        </p:txBody>
      </p:sp>
      <p:pic>
        <p:nvPicPr>
          <p:cNvPr id="12" name="Image 4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63824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090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order quantity validation</a:t>
            </a:r>
            <a:endParaRPr lang="en-US" sz="1250" dirty="0"/>
          </a:p>
        </p:txBody>
      </p:sp>
      <p:pic>
        <p:nvPicPr>
          <p:cNvPr id="14" name="Image 5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47872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Insufficient-stock handling</a:t>
            </a:r>
            <a:endParaRPr lang="en-US" sz="1250" dirty="0"/>
          </a:p>
        </p:txBody>
      </p:sp>
      <p:pic>
        <p:nvPicPr>
          <p:cNvPr id="16" name="Image 6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182880" cy="1828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60120" y="3858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stock update</a:t>
            </a:r>
            <a:endParaRPr lang="en-US" sz="1250" dirty="0"/>
          </a:p>
        </p:txBody>
      </p:sp>
      <p:pic>
        <p:nvPicPr>
          <p:cNvPr id="18" name="Image 7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15968"/>
            <a:ext cx="182880" cy="18288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60120" y="42428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250" dirty="0"/>
          </a:p>
        </p:txBody>
      </p:sp>
      <p:pic>
        <p:nvPicPr>
          <p:cNvPr id="20" name="Image 8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00016"/>
            <a:ext cx="182880" cy="18288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960120" y="46268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 storage</a:t>
            </a:r>
            <a:endParaRPr lang="en-US" sz="1250" dirty="0"/>
          </a:p>
        </p:txBody>
      </p:sp>
      <p:sp>
        <p:nvSpPr>
          <p:cNvPr id="22" name="Shape 11"/>
          <p:cNvSpPr/>
          <p:nvPr/>
        </p:nvSpPr>
        <p:spPr>
          <a:xfrm>
            <a:off x="6492240" y="114300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0B2E33"/>
          </a:solidFill>
          <a:ln/>
        </p:spPr>
      </p:sp>
      <p:pic>
        <p:nvPicPr>
          <p:cNvPr id="23" name="Image 9" descr="icon_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63040"/>
            <a:ext cx="365760" cy="36576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31520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600" dirty="0"/>
          </a:p>
        </p:txBody>
      </p:sp>
      <p:pic>
        <p:nvPicPr>
          <p:cNvPr id="25" name="Image 10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29968"/>
            <a:ext cx="201168" cy="20116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223760" y="19568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test_home_page</a:t>
            </a:r>
            <a:endParaRPr lang="en-US" sz="1200" dirty="0"/>
          </a:p>
        </p:txBody>
      </p:sp>
      <p:pic>
        <p:nvPicPr>
          <p:cNvPr id="27" name="Image 11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505456"/>
            <a:ext cx="201168" cy="20116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223760" y="2432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test_successful_order</a:t>
            </a:r>
            <a:endParaRPr lang="en-US" sz="1200" dirty="0"/>
          </a:p>
        </p:txBody>
      </p:sp>
      <p:pic>
        <p:nvPicPr>
          <p:cNvPr id="29" name="Image 12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980944"/>
            <a:ext cx="201168" cy="201168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722376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test_zero_quantity</a:t>
            </a:r>
            <a:endParaRPr lang="en-US" sz="1200" dirty="0"/>
          </a:p>
        </p:txBody>
      </p:sp>
      <p:pic>
        <p:nvPicPr>
          <p:cNvPr id="31" name="Image 13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456432"/>
            <a:ext cx="201168" cy="201168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72237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test_insufficient_stock</a:t>
            </a:r>
            <a:endParaRPr lang="en-US" sz="1200" dirty="0"/>
          </a:p>
        </p:txBody>
      </p:sp>
      <p:pic>
        <p:nvPicPr>
          <p:cNvPr id="33" name="Image 14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931920"/>
            <a:ext cx="201168" cy="201168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722376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test_maximum_quantity</a:t>
            </a:r>
            <a:endParaRPr lang="en-US" sz="1200" dirty="0"/>
          </a:p>
        </p:txBody>
      </p:sp>
      <p:sp>
        <p:nvSpPr>
          <p:cNvPr id="35" name="Shape 18"/>
          <p:cNvSpPr/>
          <p:nvPr/>
        </p:nvSpPr>
        <p:spPr>
          <a:xfrm>
            <a:off x="6858000" y="4572000"/>
            <a:ext cx="434340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6" name="Text 19"/>
          <p:cNvSpPr/>
          <p:nvPr/>
        </p:nvSpPr>
        <p:spPr>
          <a:xfrm>
            <a:off x="6858000" y="4572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tests passed</a:t>
            </a:r>
            <a:endParaRPr lang="en-US" sz="1500" dirty="0"/>
          </a:p>
        </p:txBody>
      </p:sp>
      <p:sp>
        <p:nvSpPr>
          <p:cNvPr id="37" name="Shape 20"/>
          <p:cNvSpPr/>
          <p:nvPr/>
        </p:nvSpPr>
        <p:spPr>
          <a:xfrm>
            <a:off x="6858000" y="5212080"/>
            <a:ext cx="4343400" cy="91"/>
          </a:xfrm>
          <a:prstGeom prst="roundRect">
            <a:avLst/>
          </a:prstGeom>
          <a:noFill/>
          <a:ln/>
        </p:spPr>
      </p:sp>
      <p:sp>
        <p:nvSpPr>
          <p:cNvPr id="38" name="Text 21"/>
          <p:cNvSpPr/>
          <p:nvPr/>
        </p:nvSpPr>
        <p:spPr>
          <a:xfrm>
            <a:off x="6858000" y="5074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B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Insert your 5-passed screenshot here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Development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followed an iterative development and testing cycle: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31920" y="2240280"/>
            <a:ext cx="1504598" cy="868680"/>
          </a:xfrm>
          <a:prstGeom prst="line">
            <a:avLst/>
          </a:prstGeom>
          <a:noFill/>
          <a:ln w="19050">
            <a:solidFill>
              <a:srgbClr val="3E63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36518" y="3108960"/>
            <a:ext cx="9144" cy="1737360"/>
          </a:xfrm>
          <a:prstGeom prst="line">
            <a:avLst/>
          </a:prstGeom>
          <a:noFill/>
          <a:ln w="19050">
            <a:solidFill>
              <a:srgbClr val="3E63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4846320"/>
            <a:ext cx="1504598" cy="868680"/>
          </a:xfrm>
          <a:prstGeom prst="line">
            <a:avLst/>
          </a:prstGeom>
          <a:noFill/>
          <a:ln w="19050">
            <a:solidFill>
              <a:srgbClr val="3E63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7322" y="4846320"/>
            <a:ext cx="1504598" cy="868680"/>
          </a:xfrm>
          <a:prstGeom prst="line">
            <a:avLst/>
          </a:prstGeom>
          <a:noFill/>
          <a:ln w="19050">
            <a:solidFill>
              <a:srgbClr val="3E63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7322" y="3108960"/>
            <a:ext cx="9144" cy="1737360"/>
          </a:xfrm>
          <a:prstGeom prst="line">
            <a:avLst/>
          </a:prstGeom>
          <a:noFill/>
          <a:ln w="19050">
            <a:solidFill>
              <a:srgbClr val="3E63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7322" y="2240280"/>
            <a:ext cx="1504598" cy="868680"/>
          </a:xfrm>
          <a:prstGeom prst="line">
            <a:avLst/>
          </a:prstGeom>
          <a:noFill/>
          <a:ln w="19050">
            <a:solidFill>
              <a:srgbClr val="3E63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7373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0" descr="icon_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47672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0896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33598" y="260604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icon_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638" y="28163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3558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Change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33598" y="4343400"/>
            <a:ext cx="1005840" cy="10058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7" name="Image 2" descr="icon_times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638" y="45537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13558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Test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429000" y="5212080"/>
            <a:ext cx="1005840" cy="1005840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20" name="Image 3" descr="icon_bu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542239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108960" y="6263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Detected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1924402" y="43434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4" descr="icon_clipboard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4442" y="455371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4362" y="5394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1924402" y="2606040"/>
            <a:ext cx="1005840" cy="1005840"/>
          </a:xfrm>
          <a:prstGeom prst="ellipse">
            <a:avLst/>
          </a:prstGeom>
          <a:solidFill>
            <a:srgbClr val="1E9E5A"/>
          </a:solidFill>
          <a:ln/>
        </p:spPr>
      </p:sp>
      <p:pic>
        <p:nvPicPr>
          <p:cNvPr id="26" name="Image 5" descr="icon_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4442" y="2816352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04362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Test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8580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6858000" y="1965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Maximum order quantity limited to 10.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858000" y="246888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07262B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086600" y="260604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quantity &gt; 10:
</a:t>
            </a:r>
            <a:r>
              <a:rPr lang="en-US" sz="1250" dirty="0">
                <a:solidFill>
                  <a:srgbClr val="E8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"Maximum order quantity is 10", 400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858000" y="38404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was intentionally changed to 200 to create a deliberate failure.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858000" y="461772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3A2323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858000" y="4617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Insert your RED screenshot here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Test-Driven Correction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DF1F1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5" name="Image 0" descr="icon_times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36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21488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incorrect implementation returned HTTP 200.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60120" y="269748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2A1414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83464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test_maximum_quantity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200 == 400
</a:t>
            </a:r>
            <a:r>
              <a:rPr lang="en-US" sz="1200" b="1" dirty="0">
                <a:solidFill>
                  <a:srgbClr val="F5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failed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3886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successfully detected the incorrect behavior.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452628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526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RED screenshot here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28016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EEF9F1"/>
          </a:solidFill>
          <a:ln w="15875">
            <a:solidFill>
              <a:srgbClr val="1E9E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1554480"/>
            <a:ext cx="457200" cy="457200"/>
          </a:xfrm>
          <a:prstGeom prst="ellipse">
            <a:avLst/>
          </a:prstGeom>
          <a:solidFill>
            <a:srgbClr val="1E9E5A"/>
          </a:solidFill>
          <a:ln/>
        </p:spPr>
      </p:sp>
      <p:pic>
        <p:nvPicPr>
          <p:cNvPr id="15" name="Image 1" descr="icon_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66420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583680" y="214884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was corrected to HTTP 400.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83680" y="269748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0F2A1A"/>
          </a:solidFill>
          <a:ln/>
        </p:spPr>
      </p:sp>
      <p:sp>
        <p:nvSpPr>
          <p:cNvPr id="19" name="Text 15"/>
          <p:cNvSpPr/>
          <p:nvPr/>
        </p:nvSpPr>
        <p:spPr>
          <a:xfrm>
            <a:off x="6766560" y="297180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E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test_maximum_quantity PASSED
</a:t>
            </a: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passed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83680" y="38862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now pass after the correction was applied.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583680" y="452628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0" y="45262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GREEN screenshot here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897880" y="3337560"/>
            <a:ext cx="365760" cy="0"/>
          </a:xfrm>
          <a:prstGeom prst="line">
            <a:avLst/>
          </a:prstGeom>
          <a:noFill/>
          <a:ln w="25400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40080" y="562356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F1F7F7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→  AI-assisted change  →  RED  →  Correction  →  GREEN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Deliverables</a:t>
            </a:r>
            <a:endParaRPr lang="en-US" sz="1600" dirty="0"/>
          </a:p>
        </p:txBody>
      </p:sp>
      <p:pic>
        <p:nvPicPr>
          <p:cNvPr id="5" name="Image 0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1952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250" dirty="0"/>
          </a:p>
        </p:txBody>
      </p:sp>
      <p:pic>
        <p:nvPicPr>
          <p:cNvPr id="7" name="Image 1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13432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250" dirty="0"/>
          </a:p>
        </p:txBody>
      </p:sp>
      <p:pic>
        <p:nvPicPr>
          <p:cNvPr id="9" name="Image 2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651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/ workflow documentation</a:t>
            </a:r>
            <a:endParaRPr lang="en-US" sz="1250" dirty="0"/>
          </a:p>
        </p:txBody>
      </p:sp>
      <p:pic>
        <p:nvPicPr>
          <p:cNvPr id="11" name="Image 3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36392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250" dirty="0"/>
          </a:p>
        </p:txBody>
      </p:sp>
      <p:pic>
        <p:nvPicPr>
          <p:cNvPr id="13" name="Image 4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4787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474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250" dirty="0"/>
          </a:p>
        </p:txBody>
      </p:sp>
      <p:pic>
        <p:nvPicPr>
          <p:cNvPr id="15" name="Image 5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59352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3886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screenshots</a:t>
            </a:r>
            <a:endParaRPr lang="en-US" sz="1250" dirty="0"/>
          </a:p>
        </p:txBody>
      </p:sp>
      <p:pic>
        <p:nvPicPr>
          <p:cNvPr id="17" name="Image 6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70832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60120" y="4297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change-loop evidence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6492240" y="1371600"/>
            <a:ext cx="5074920" cy="3200400"/>
          </a:xfrm>
          <a:prstGeom prst="roundRect">
            <a:avLst>
              <a:gd name="adj" fmla="val 3429"/>
            </a:avLst>
          </a:prstGeom>
          <a:solidFill>
            <a:srgbClr val="0F3E44"/>
          </a:solidFill>
          <a:ln/>
        </p:spPr>
      </p:sp>
      <p:pic>
        <p:nvPicPr>
          <p:cNvPr id="20" name="Image 7" descr="icon_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91640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315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6812280" y="2286000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Tactive Canteen System demonstrates a functional Flask-based ordering application with SQLite database integration, automated testing, validation, stock management, and an AI-assisted development cycle.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swathi KS</cp:lastModifiedBy>
  <cp:revision>1</cp:revision>
  <dcterms:created xsi:type="dcterms:W3CDTF">2026-08-13T18:15:16Z</dcterms:created>
  <dcterms:modified xsi:type="dcterms:W3CDTF">2026-08-13T18:17:19Z</dcterms:modified>
</cp:coreProperties>
</file>